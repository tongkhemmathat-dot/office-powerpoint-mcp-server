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822960" y="2011680"/>
            <a:ext cx="9601200" cy="1645920"/>
          </a:xfrm>
        </p:spPr>
        <p:txBody>
          <a:bodyPr anchor="b"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822960" y="3794760"/>
            <a:ext cx="9601200" cy="1097280"/>
          </a:xfrm>
        </p:spPr>
        <p:txBody>
          <a:bodyPr anchor="t"/>
          <a:lstStyle>
            <a:lvl1pPr algn="l" marL="0" indent="0">
              <a:buNone/>
              <a:defRPr sz="2000" b="0">
                <a:solidFill>
                  <a:srgbClr val="DCE6F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Accent Band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ogo Placeholder"/>
          <p:cNvSpPr/>
          <p:nvPr/>
        </p:nvSpPr>
        <p:spPr>
          <a:xfrm>
            <a:off x="10607040" y="274320"/>
            <a:ext cx="1188720" cy="685800"/>
          </a:xfrm>
          <a:prstGeom prst="rect">
            <a:avLst/>
          </a:prstGeom>
          <a:noFill/>
          <a:ln w="12700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601200" cy="1188720"/>
          </a:xfrm>
        </p:spPr>
        <p:txBody>
          <a:bodyPr anchor="b"/>
          <a:lstStyle>
            <a:lvl1pPr algn="l"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822960" y="3703320"/>
            <a:ext cx="9601200" cy="914400"/>
          </a:xfrm>
        </p:spPr>
        <p:txBody>
          <a:bodyPr anchor="t"/>
          <a:lstStyle>
            <a:lvl1pPr algn="l" marL="0" indent="0">
              <a:buNone/>
              <a:defRPr sz="2000" b="0">
                <a:solidFill>
                  <a:srgbClr val="DCE6F2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Accent Band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ogo Placeholder"/>
          <p:cNvSpPr/>
          <p:nvPr/>
        </p:nvSpPr>
        <p:spPr>
          <a:xfrm>
            <a:off x="10607040" y="274320"/>
            <a:ext cx="1188720" cy="685800"/>
          </a:xfrm>
          <a:prstGeom prst="rect">
            <a:avLst/>
          </a:prstGeom>
          <a:noFill/>
          <a:ln w="12700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88720"/>
            <a:ext cx="5486400" cy="51206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5352" y="1188720"/>
            <a:ext cx="5486400" cy="51206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88720"/>
            <a:ext cx="5486400" cy="457200"/>
          </a:xfrm>
        </p:spPr>
        <p:txBody>
          <a:bodyPr anchor="ctr"/>
          <a:lstStyle>
            <a:lvl1pPr>
              <a:defRPr sz="1800" b="1">
                <a:solidFill>
                  <a:srgbClr val="0B5CAD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91640"/>
            <a:ext cx="5486400" cy="46177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5352" y="1188720"/>
            <a:ext cx="5486400" cy="457200"/>
          </a:xfrm>
        </p:spPr>
        <p:txBody>
          <a:bodyPr anchor="ctr"/>
          <a:lstStyle>
            <a:lvl1pPr>
              <a:defRPr sz="1800" b="1">
                <a:solidFill>
                  <a:srgbClr val="0B5CAD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5352" y="1691640"/>
            <a:ext cx="5486400" cy="46177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(Diagram / Tab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rame"/>
          <p:cNvSpPr/>
          <p:nvPr/>
        </p:nvSpPr>
        <p:spPr>
          <a:xfrm>
            <a:off x="365760" y="1188720"/>
            <a:ext cx="11457432" cy="5212080"/>
          </a:xfrm>
          <a:prstGeom prst="rect">
            <a:avLst/>
          </a:prstGeom>
          <a:noFill/>
          <a:ln w="1270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996696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88720"/>
            <a:ext cx="11274552" cy="5120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itle Rule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 Bar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ate"/>
          <p:cNvSpPr txBox="1"/>
          <p:nvPr/>
        </p:nvSpPr>
        <p:spPr>
          <a:xfrm>
            <a:off x="365760" y="655624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fld id="{DDF67EDF-8FC0-4267-A1F7-5A5A965DF6DD}" type="datetime1">
              <a:rPr lang="en-US" sz="1000">
                <a:solidFill>
                  <a:srgbClr val="FFFFFF"/>
                </a:solidFill>
              </a:rPr>
              <a:t>date</a:t>
            </a:fld>
          </a:p>
        </p:txBody>
      </p:sp>
      <p:sp>
        <p:nvSpPr>
          <p:cNvPr id="7" name="Footer Text"/>
          <p:cNvSpPr txBox="1"/>
          <p:nvPr/>
        </p:nvSpPr>
        <p:spPr>
          <a:xfrm>
            <a:off x="2926080" y="6556248"/>
            <a:ext cx="6309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ชื่อโครงการ / Project Name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10881360" y="655624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fld id="{9D9F917E-F254-476A-9C74-8B5652F80AB9}" type="slidenum">
              <a:rPr lang="en-US" sz="1000">
                <a:solidFill>
                  <a:srgbClr val="FFFFFF"/>
                </a:solidFill>
              </a:rPr>
              <a:t>#</a:t>
            </a:fld>
          </a:p>
        </p:txBody>
      </p:sp>
      <p:sp>
        <p:nvSpPr>
          <p:cNvPr id="9" name="Logo Placeholder"/>
          <p:cNvSpPr/>
          <p:nvPr/>
        </p:nvSpPr>
        <p:spPr>
          <a:xfrm>
            <a:off x="10607040" y="182880"/>
            <a:ext cx="1188720" cy="685800"/>
          </a:xfrm>
          <a:prstGeom prst="rect">
            <a:avLst/>
          </a:prstGeom>
          <a:noFill/>
          <a:ln w="12700">
            <a:solidFill>
              <a:srgbClr val="8A94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8A94A3"/>
                </a:solidFill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600" kern="1200" b="1">
          <a:solidFill>
            <a:srgbClr val="1F3A5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ชื่อโครงการ / Project Name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System Design Document  |  Version 0.1</a:t>
            </a:r>
          </a:p>
          <a:p>
            <a:r>
              <a:t>ผู้จัดทำ: ทีม System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วาระการประชุม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ภาพรวมระบบและขอบเขตงาน</a:t>
            </a:r>
          </a:p>
          <a:p>
            <a:pPr/>
            <a:r>
              <a:t>สถาปัตยกรรมระบบ (System Diagram)</a:t>
            </a:r>
          </a:p>
          <a:p>
            <a:pPr/>
            <a:r>
              <a:t>ความต้องการด้านโครงสร้างพื้นฐาน (Infrastructure)</a:t>
            </a:r>
          </a:p>
          <a:p>
            <a:pPr/>
            <a:r>
              <a:t>ความต้องการด้านเครือข่ายและความปลอดภัย</a:t>
            </a:r>
          </a:p>
          <a:p>
            <a:pPr/>
            <a:r>
              <a:t>แผนสำรองข้อมูลและ DR</a:t>
            </a:r>
          </a:p>
          <a:p>
            <a:pPr/>
            <a:r>
              <a:t>ขั้นตอนถัดไป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สถาปัตยกรรมระบบ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Diagram (ตัวอย่าง)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Tahoma"/>
              </a:rPr>
              <a:t>Main 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1417320"/>
            <a:ext cx="2468880" cy="2926080"/>
          </a:xfrm>
          <a:prstGeom prst="rect">
            <a:avLst/>
          </a:prstGeom>
          <a:solidFill>
            <a:srgbClr val="C7E4F0"/>
          </a:solidFill>
          <a:ln>
            <a:solidFill>
              <a:srgbClr val="78A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92240" y="1417320"/>
            <a:ext cx="2926080" cy="2926080"/>
          </a:xfrm>
          <a:prstGeom prst="rect">
            <a:avLst/>
          </a:prstGeom>
          <a:solidFill>
            <a:srgbClr val="FCE4D6"/>
          </a:solidFill>
          <a:ln>
            <a:solidFill>
              <a:srgbClr val="E1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1417320"/>
            <a:ext cx="2011680" cy="2926080"/>
          </a:xfrm>
          <a:prstGeom prst="rect">
            <a:avLst/>
          </a:prstGeom>
          <a:solidFill>
            <a:srgbClr val="E2F0D9"/>
          </a:solidFill>
          <a:ln>
            <a:solidFill>
              <a:srgbClr val="96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14630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latin typeface="Tahoma"/>
              </a:rPr>
              <a:t>DMZ Zone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latin typeface="Tahoma"/>
              </a:rPr>
              <a:t>Application 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4630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latin typeface="Tahoma"/>
              </a:rPr>
              <a:t>Database Zone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194560"/>
            <a:ext cx="1737360" cy="822960"/>
          </a:xfrm>
          <a:prstGeom prst="roundRect">
            <a:avLst/>
          </a:prstGeom>
          <a:solidFill>
            <a:srgbClr val="78829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FFFFFF"/>
                </a:solidFill>
              </a:rPr>
              <a:t>Web Server</a:t>
            </a:r>
          </a:p>
          <a:p>
            <a:r>
              <a:rPr sz="1100">
                <a:solidFill>
                  <a:srgbClr val="FFFFFF"/>
                </a:solidFill>
              </a:rPr>
              <a:t>(Frontend)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194560"/>
            <a:ext cx="1188720" cy="822960"/>
          </a:xfrm>
          <a:prstGeom prst="roundRect">
            <a:avLst/>
          </a:prstGeom>
          <a:solidFill>
            <a:srgbClr val="78829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FFFFFF"/>
                </a:solidFill>
              </a:rPr>
              <a:t>App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94560"/>
            <a:ext cx="1188720" cy="822960"/>
          </a:xfrm>
          <a:prstGeom prst="roundRect">
            <a:avLst/>
          </a:prstGeom>
          <a:solidFill>
            <a:srgbClr val="78829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FFFFFF"/>
                </a:solidFill>
              </a:rPr>
              <a:t>GIS Server</a:t>
            </a:r>
          </a:p>
        </p:txBody>
      </p:sp>
      <p:sp>
        <p:nvSpPr>
          <p:cNvPr id="13" name="Can 12"/>
          <p:cNvSpPr/>
          <p:nvPr/>
        </p:nvSpPr>
        <p:spPr>
          <a:xfrm>
            <a:off x="10058400" y="2103120"/>
            <a:ext cx="1097280" cy="1188720"/>
          </a:xfrm>
          <a:prstGeom prst="can">
            <a:avLst/>
          </a:prstGeom>
          <a:solidFill>
            <a:srgbClr val="2E9E5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FFFFFF"/>
                </a:solidFill>
              </a:rPr>
              <a:t>DB 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4572000"/>
            <a:ext cx="8046720" cy="201168"/>
          </a:xfrm>
          <a:prstGeom prst="rect">
            <a:avLst/>
          </a:prstGeom>
          <a:solidFill>
            <a:srgbClr val="1F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4800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latin typeface="Tahoma"/>
              </a:rPr>
              <a:t>Core Switch</a:t>
            </a:r>
          </a:p>
        </p:txBody>
      </p:sp>
      <p:sp>
        <p:nvSpPr>
          <p:cNvPr id="16" name="Hexagon 15"/>
          <p:cNvSpPr/>
          <p:nvPr/>
        </p:nvSpPr>
        <p:spPr>
          <a:xfrm>
            <a:off x="2286000" y="4343400"/>
            <a:ext cx="914400" cy="640080"/>
          </a:xfrm>
          <a:prstGeom prst="hexagon">
            <a:avLst/>
          </a:prstGeom>
          <a:solidFill>
            <a:srgbClr val="C039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FFFFFF"/>
                </a:solidFill>
              </a:rPr>
              <a:t>Firewall</a:t>
            </a:r>
          </a:p>
        </p:txBody>
      </p:sp>
      <p:sp>
        <p:nvSpPr>
          <p:cNvPr id="17" name="Cloud 16"/>
          <p:cNvSpPr/>
          <p:nvPr/>
        </p:nvSpPr>
        <p:spPr>
          <a:xfrm>
            <a:off x="548640" y="4251960"/>
            <a:ext cx="1371600" cy="822960"/>
          </a:xfrm>
          <a:prstGeom prst="cloud">
            <a:avLst/>
          </a:prstGeom>
          <a:solidFill>
            <a:srgbClr val="ADD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1F3A5F"/>
                </a:solidFill>
              </a:rPr>
              <a:t>Internet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2926080"/>
            <a:ext cx="1188720" cy="548640"/>
          </a:xfrm>
          <a:prstGeom prst="ellipse">
            <a:avLst/>
          </a:prstGeom>
          <a:solidFill>
            <a:srgbClr val="ED70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FFFFFF"/>
                </a:solidFill>
              </a:rPr>
              <a:t>Users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34440" y="3474720"/>
            <a:ext cx="0" cy="777240"/>
          </a:xfrm>
          <a:prstGeom prst="line">
            <a:avLst/>
          </a:prstGeom>
          <a:ln w="25400">
            <a:solidFill>
              <a:srgbClr val="ED7014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20240" y="4663440"/>
            <a:ext cx="365760" cy="0"/>
          </a:xfrm>
          <a:prstGeom prst="line">
            <a:avLst/>
          </a:prstGeom>
          <a:ln w="25400">
            <a:solidFill>
              <a:srgbClr val="ED7014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00400" y="4663440"/>
            <a:ext cx="457200" cy="0"/>
          </a:xfrm>
          <a:prstGeom prst="line">
            <a:avLst/>
          </a:prstGeom>
          <a:ln w="25400">
            <a:solidFill>
              <a:srgbClr val="ED7014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74920" y="3017520"/>
            <a:ext cx="0" cy="1554480"/>
          </a:xfrm>
          <a:prstGeom prst="line">
            <a:avLst/>
          </a:prstGeom>
          <a:ln w="19050">
            <a:solidFill>
              <a:srgbClr val="1F3A5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269480" y="3017520"/>
            <a:ext cx="0" cy="1554480"/>
          </a:xfrm>
          <a:prstGeom prst="line">
            <a:avLst/>
          </a:prstGeom>
          <a:ln w="19050">
            <a:solidFill>
              <a:srgbClr val="1F3A5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3017520"/>
            <a:ext cx="0" cy="1554480"/>
          </a:xfrm>
          <a:prstGeom prst="line">
            <a:avLst/>
          </a:prstGeom>
          <a:ln w="19050">
            <a:solidFill>
              <a:srgbClr val="1F3A5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607040" y="3291840"/>
            <a:ext cx="0" cy="1280160"/>
          </a:xfrm>
          <a:prstGeom prst="line">
            <a:avLst/>
          </a:prstGeom>
          <a:ln w="19050">
            <a:solidFill>
              <a:srgbClr val="1F3A5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20640" y="379476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latin typeface="Tahoma"/>
              </a:rPr>
              <a:t>443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0233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latin typeface="Tahoma"/>
              </a:rPr>
              <a:t>6080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794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latin typeface="Tahoma"/>
              </a:rPr>
              <a:t>6443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3794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latin typeface="Tahoma"/>
              </a:rPr>
              <a:t>1522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4A3"/>
                </a:solidFill>
                <a:latin typeface="Tahoma"/>
              </a:rPr>
              <a:t>ข้อมูลตัวอย่างสมมติ — แก้ไขตามงานจริง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Specification (ตัวอย่าง)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47472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3474720" cy="457200"/>
          </a:xfrm>
          <a:prstGeom prst="rect">
            <a:avLst/>
          </a:prstGeom>
          <a:solidFill>
            <a:srgbClr val="0073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FFFFF"/>
                </a:solidFill>
              </a:rPr>
              <a:t>Web Server [Frontend]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200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latin typeface="Tahoma"/>
              </a:rPr>
              <a:t>OS: Windows Server 2022</a:t>
            </a:r>
          </a:p>
          <a:p>
            <a:pPr algn="l"/>
            <a:r>
              <a:rPr sz="1200" b="0">
                <a:latin typeface="Tahoma"/>
              </a:rPr>
              <a:t>CPU: 4 vCPU</a:t>
            </a:r>
          </a:p>
          <a:p>
            <a:pPr algn="l"/>
            <a:r>
              <a:rPr sz="1200" b="0">
                <a:latin typeface="Tahoma"/>
              </a:rPr>
              <a:t>RAM: 16 GB</a:t>
            </a:r>
          </a:p>
          <a:p>
            <a:pPr algn="l"/>
            <a:r>
              <a:rPr sz="1200" b="0">
                <a:latin typeface="Tahoma"/>
              </a:rPr>
              <a:t>HDD: 100 GB</a:t>
            </a:r>
          </a:p>
          <a:p>
            <a:pPr algn="l"/>
            <a:r>
              <a:rPr sz="1200" b="0">
                <a:latin typeface="Tahoma"/>
              </a:rPr>
              <a:t/>
            </a:r>
          </a:p>
          <a:p>
            <a:pPr algn="l"/>
            <a:r>
              <a:rPr sz="1200" b="0">
                <a:latin typeface="Tahoma"/>
              </a:rPr>
              <a:t>Software:</a:t>
            </a:r>
          </a:p>
          <a:p>
            <a:pPr algn="l"/>
            <a:r>
              <a:rPr sz="1200" b="0">
                <a:latin typeface="Tahoma"/>
              </a:rPr>
              <a:t> - Web Application</a:t>
            </a:r>
          </a:p>
          <a:p>
            <a:pPr algn="l"/>
            <a:r>
              <a:rPr sz="1200" b="0">
                <a:latin typeface="Tahoma"/>
              </a:rPr>
              <a:t> - ArcGIS Web Adaptor</a:t>
            </a:r>
          </a:p>
          <a:p>
            <a:pPr algn="l"/>
            <a:r>
              <a:rPr sz="1200" b="0">
                <a:latin typeface="Tahoma"/>
              </a:rPr>
              <a:t> - Anti-Virus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463040"/>
            <a:ext cx="347472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474720" cy="457200"/>
          </a:xfrm>
          <a:prstGeom prst="rect">
            <a:avLst/>
          </a:prstGeom>
          <a:solidFill>
            <a:srgbClr val="ED70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FFFFF"/>
                </a:solidFill>
              </a:rPr>
              <a:t>GIS Server x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011680"/>
            <a:ext cx="3200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latin typeface="Tahoma"/>
              </a:rPr>
              <a:t>OS: Windows Server 2022</a:t>
            </a:r>
          </a:p>
          <a:p>
            <a:pPr algn="l"/>
            <a:r>
              <a:rPr sz="1200" b="0">
                <a:latin typeface="Tahoma"/>
              </a:rPr>
              <a:t>CPU: 8 vCPU</a:t>
            </a:r>
          </a:p>
          <a:p>
            <a:pPr algn="l"/>
            <a:r>
              <a:rPr sz="1200" b="0">
                <a:latin typeface="Tahoma"/>
              </a:rPr>
              <a:t>RAM: 32 GB</a:t>
            </a:r>
          </a:p>
          <a:p>
            <a:pPr algn="l"/>
            <a:r>
              <a:rPr sz="1200" b="0">
                <a:latin typeface="Tahoma"/>
              </a:rPr>
              <a:t>HDD: 100 GB, 500 GB</a:t>
            </a:r>
          </a:p>
          <a:p>
            <a:pPr algn="l"/>
            <a:r>
              <a:rPr sz="1200" b="0">
                <a:latin typeface="Tahoma"/>
              </a:rPr>
              <a:t/>
            </a:r>
          </a:p>
          <a:p>
            <a:pPr algn="l"/>
            <a:r>
              <a:rPr sz="1200" b="0">
                <a:latin typeface="Tahoma"/>
              </a:rPr>
              <a:t>Software:</a:t>
            </a:r>
          </a:p>
          <a:p>
            <a:pPr algn="l"/>
            <a:r>
              <a:rPr sz="1200" b="0">
                <a:latin typeface="Tahoma"/>
              </a:rPr>
              <a:t> - ArcGIS Server Enterprise</a:t>
            </a:r>
          </a:p>
          <a:p>
            <a:pPr algn="l"/>
            <a:r>
              <a:rPr sz="1200" b="0">
                <a:latin typeface="Tahoma"/>
              </a:rPr>
              <a:t> - ArcGIS Data Store</a:t>
            </a:r>
          </a:p>
          <a:p>
            <a:pPr algn="l"/>
            <a:r>
              <a:rPr sz="1200" b="0">
                <a:latin typeface="Tahoma"/>
              </a:rPr>
              <a:t> - Anti-Virus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59" y="1463040"/>
            <a:ext cx="347472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59" y="1463040"/>
            <a:ext cx="3474720" cy="457200"/>
          </a:xfrm>
          <a:prstGeom prst="rect">
            <a:avLst/>
          </a:prstGeom>
          <a:solidFill>
            <a:srgbClr val="2E9E5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FFFFF"/>
                </a:solidFill>
              </a:rPr>
              <a:t>Database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2011680"/>
            <a:ext cx="3200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latin typeface="Tahoma"/>
              </a:rPr>
              <a:t>OS: Windows Server 2022</a:t>
            </a:r>
          </a:p>
          <a:p>
            <a:pPr algn="l"/>
            <a:r>
              <a:rPr sz="1200" b="0">
                <a:latin typeface="Tahoma"/>
              </a:rPr>
              <a:t>CPU: 8 Core (16 Thread)</a:t>
            </a:r>
          </a:p>
          <a:p>
            <a:pPr algn="l"/>
            <a:r>
              <a:rPr sz="1200" b="0">
                <a:latin typeface="Tahoma"/>
              </a:rPr>
              <a:t>RAM: 128 GB</a:t>
            </a:r>
          </a:p>
          <a:p>
            <a:pPr algn="l"/>
            <a:r>
              <a:rPr sz="1200" b="0">
                <a:latin typeface="Tahoma"/>
              </a:rPr>
              <a:t>Disk: 6 x 480 GB SSD RAID6</a:t>
            </a:r>
          </a:p>
          <a:p>
            <a:pPr algn="l"/>
            <a:r>
              <a:rPr sz="1200" b="0">
                <a:latin typeface="Tahoma"/>
              </a:rPr>
              <a:t>NIC: 2 x 10 GbE</a:t>
            </a:r>
          </a:p>
          <a:p>
            <a:pPr algn="l"/>
            <a:r>
              <a:rPr sz="1200" b="0">
                <a:latin typeface="Tahoma"/>
              </a:rPr>
              <a:t/>
            </a:r>
          </a:p>
          <a:p>
            <a:pPr algn="l"/>
            <a:r>
              <a:rPr sz="1200" b="0">
                <a:latin typeface="Tahoma"/>
              </a:rPr>
              <a:t>Software:</a:t>
            </a:r>
          </a:p>
          <a:p>
            <a:pPr algn="l"/>
            <a:r>
              <a:rPr sz="1200" b="0">
                <a:latin typeface="Tahoma"/>
              </a:rPr>
              <a:t> - Oracle 19c Standard</a:t>
            </a:r>
          </a:p>
          <a:p>
            <a:pPr algn="l"/>
            <a:r>
              <a:rPr sz="1200" b="0">
                <a:latin typeface="Tahoma"/>
              </a:rPr>
              <a:t> - DB Visit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Requirement (ตัวอย่าง)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latin typeface="Tahoma"/>
              </a:rPr>
              <a:t>สถานที่ติดตั้ง: xxx Datacenter    Rack Number: xx    Total rack unit: xx 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ลำดับ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รายละเอียด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รุ่น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จำนวน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ไฟฟ้า (วัตต์)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น้ำหนัก (กก.)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Rack (U)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ความร้อน (BTU)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เครื่องแม่ข่าย Virtualization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Server Model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เครื่องแม่ข่าย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Server Model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อุปกรณ์จัดเก็บข้อมูล (Storage)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Storage Model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Network 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Switch Model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C6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รวม</a:t>
                      </a:r>
                    </a:p>
                  </a:txBody>
                  <a:tcPr>
                    <a:solidFill>
                      <a:srgbClr val="C6E0B4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C6E0B4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C6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2,260</a:t>
                      </a:r>
                    </a:p>
                  </a:txBody>
                  <a:tcPr>
                    <a:solidFill>
                      <a:srgbClr val="C6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106</a:t>
                      </a:r>
                    </a:p>
                  </a:txBody>
                  <a:tcPr>
                    <a:solidFill>
                      <a:srgbClr val="C6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9</a:t>
                      </a:r>
                    </a:p>
                  </a:txBody>
                  <a:tcPr>
                    <a:solidFill>
                      <a:srgbClr val="C6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7,690</a:t>
                      </a:r>
                    </a:p>
                  </a:txBody>
                  <a:tcPr>
                    <a:solidFill>
                      <a:srgbClr val="C6E0B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Requirement (ตัวอย่าง)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IP / VLAN แยกตามโซน (DMZ, Application, Database)</a:t>
            </a:r>
          </a:p>
          <a:p>
            <a:pPr/>
            <a:r>
              <a:t>DNS: ชื่อโดเมนภายในและภายนอก</a:t>
            </a:r>
          </a:p>
          <a:p>
            <a:pPr/>
            <a:r>
              <a:t>Reverse Proxy สำหรับบริการ Web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Firewall: อนุญาตเฉพาะพอร์ตที่จำเป็น (443, 1522, 6080, 6443)</a:t>
            </a:r>
          </a:p>
          <a:p>
            <a:pPr/>
            <a:r>
              <a:t>Uplink 10 GbE แบบ Redundant</a:t>
            </a:r>
          </a:p>
          <a:p>
            <a:pPr/>
            <a:r>
              <a:t>Security Hardening ตามมาตรฐานองค์กร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 Template">
  <a:themeElements>
    <a:clrScheme name="SE Template">
      <a:dk1>
        <a:sysClr val="windowText" lastClr="000000"/>
      </a:dk1>
      <a:lt1>
        <a:sysClr val="window" lastClr="FFFFFF"/>
      </a:lt1>
      <a:dk2>
        <a:srgbClr val="1F3A5F"/>
      </a:dk2>
      <a:lt2>
        <a:srgbClr val="EAF1FA"/>
      </a:lt2>
      <a:accent1>
        <a:srgbClr val="0B5CAD"/>
      </a:accent1>
      <a:accent2>
        <a:srgbClr val="ED7014"/>
      </a:accent2>
      <a:accent3>
        <a:srgbClr val="2E9E5B"/>
      </a:accent3>
      <a:accent4>
        <a:srgbClr val="7B4EA3"/>
      </a:accent4>
      <a:accent5>
        <a:srgbClr val="17A2B8"/>
      </a:accent5>
      <a:accent6>
        <a:srgbClr val="C0392B"/>
      </a:accent6>
      <a:hlink>
        <a:srgbClr val="0000FF"/>
      </a:hlink>
      <a:folHlink>
        <a:srgbClr val="800080"/>
      </a:folHlink>
    </a:clrScheme>
    <a:fontScheme name="SE Template">
      <a:majorFont>
        <a:latin typeface="Tahoma"/>
        <a:ea typeface=""/>
        <a:cs typeface="Tahoma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ahoma"/>
        <a:ea typeface=""/>
        <a:cs typeface="Tahoma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