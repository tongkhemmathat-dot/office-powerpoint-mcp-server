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60" y="274638"/>
            <a:ext cx="14629669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60" y="1600200"/>
            <a:ext cx="14629669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60" y="274638"/>
            <a:ext cx="14629669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60" y="274638"/>
            <a:ext cx="1462966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60" y="274638"/>
            <a:ext cx="14629669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60" y="274638"/>
            <a:ext cx="14629669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60" y="1600200"/>
            <a:ext cx="14629669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60" y="6356350"/>
            <a:ext cx="379287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6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ArcGIS Enterprise on AWS –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340864" y="777240"/>
            <a:ext cx="9246412" cy="5852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6428" y="1920240"/>
            <a:ext cx="8778240" cy="3520440"/>
          </a:xfrm>
          <a:prstGeom prst="rect">
            <a:avLst/>
          </a:prstGeom>
          <a:solidFill>
            <a:srgbClr val="F7FBF3"/>
          </a:solidFill>
          <a:ln w="25400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3024" y="2240280"/>
            <a:ext cx="2926080" cy="3063240"/>
          </a:xfrm>
          <a:prstGeom prst="rect">
            <a:avLst/>
          </a:prstGeom>
          <a:solidFill>
            <a:srgbClr val="EAF6D7"/>
          </a:solidFill>
          <a:ln w="12700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91379" y="2240280"/>
            <a:ext cx="2926080" cy="30632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1993" y="2240280"/>
            <a:ext cx="2223820" cy="30632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91440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5" y="14813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Users / Clients</a:t>
            </a:r>
          </a:p>
        </p:txBody>
      </p:sp>
      <p:pic>
        <p:nvPicPr>
          <p:cNvPr id="10" name="Picture 9" descr="Route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123" y="91440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31643" y="14813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Route 53</a:t>
            </a:r>
          </a:p>
          <a:p>
            <a:pPr algn="ctr"/>
            <a:r>
              <a:rPr sz="900" b="0"/>
              <a:t>DNS</a:t>
            </a:r>
          </a:p>
        </p:txBody>
      </p:sp>
      <p:pic>
        <p:nvPicPr>
          <p:cNvPr id="12" name="Picture 11" descr="Cloud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289" y="9144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91809" y="14813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CloudFront</a:t>
            </a:r>
          </a:p>
          <a:p>
            <a:pPr algn="ctr"/>
            <a:r>
              <a:rPr sz="900" b="0"/>
              <a:t>CDN</a:t>
            </a:r>
          </a:p>
        </p:txBody>
      </p:sp>
      <p:pic>
        <p:nvPicPr>
          <p:cNvPr id="14" name="Picture 13" descr="W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91440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1976" y="14813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AWS WAF</a:t>
            </a:r>
          </a:p>
          <a:p>
            <a:pPr algn="ctr"/>
            <a:r>
              <a:rPr sz="900" b="0"/>
              <a:t>Web firewall</a:t>
            </a:r>
          </a:p>
        </p:txBody>
      </p:sp>
      <p:pic>
        <p:nvPicPr>
          <p:cNvPr id="16" name="Picture 15" descr="ElasticLoadBalancingApplicationLoadBalanc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27432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1976" y="33101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Application</a:t>
            </a:r>
          </a:p>
          <a:p>
            <a:pPr algn="ctr"/>
            <a:r>
              <a:rPr sz="900" b="0"/>
              <a:t>Load Balancer</a:t>
            </a:r>
          </a:p>
        </p:txBody>
      </p:sp>
      <p:pic>
        <p:nvPicPr>
          <p:cNvPr id="18" name="Picture 17" descr="EC2Inst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1030" y="2651760"/>
            <a:ext cx="548640" cy="54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89550" y="32186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Portal for</a:t>
            </a:r>
          </a:p>
          <a:p>
            <a:pPr algn="ctr"/>
            <a:r>
              <a:rPr sz="900" b="0"/>
              <a:t>ArcGIS</a:t>
            </a:r>
          </a:p>
        </p:txBody>
      </p:sp>
      <p:pic>
        <p:nvPicPr>
          <p:cNvPr id="20" name="Picture 19" descr="E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070" y="265176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52590" y="32186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Web Adaptor</a:t>
            </a:r>
          </a:p>
          <a:p>
            <a:pPr algn="ctr"/>
            <a:r>
              <a:rPr sz="900" b="0"/>
              <a:t>(IIS / Tomcat)</a:t>
            </a:r>
          </a:p>
        </p:txBody>
      </p:sp>
      <p:pic>
        <p:nvPicPr>
          <p:cNvPr id="22" name="Picture 21" descr="EC2Inst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1030" y="4114800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89550" y="4681727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ArcGIS</a:t>
            </a:r>
          </a:p>
          <a:p>
            <a:pPr algn="ctr"/>
            <a:r>
              <a:rPr sz="900" b="0"/>
              <a:t>Data Store</a:t>
            </a:r>
          </a:p>
        </p:txBody>
      </p:sp>
      <p:pic>
        <p:nvPicPr>
          <p:cNvPr id="24" name="Picture 23" descr="EC2AutoScal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4070" y="4114800"/>
            <a:ext cx="548640" cy="548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52590" y="4681727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ArcGIS Server</a:t>
            </a:r>
          </a:p>
          <a:p>
            <a:pPr algn="ctr"/>
            <a:r>
              <a:rPr sz="900" b="0"/>
              <a:t>(Auto Scaling)</a:t>
            </a:r>
          </a:p>
        </p:txBody>
      </p:sp>
      <p:pic>
        <p:nvPicPr>
          <p:cNvPr id="26" name="Picture 25" descr="RD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5731" y="2651760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24251" y="32186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RDS Multi-AZ</a:t>
            </a:r>
          </a:p>
          <a:p>
            <a:pPr algn="ctr"/>
            <a:r>
              <a:rPr sz="900" b="0"/>
              <a:t>Enterprise GDB</a:t>
            </a:r>
          </a:p>
        </p:txBody>
      </p:sp>
      <p:pic>
        <p:nvPicPr>
          <p:cNvPr id="28" name="Picture 27" descr="EF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5731" y="411480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924251" y="4681727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EFS / FSx</a:t>
            </a:r>
          </a:p>
          <a:p>
            <a:pPr algn="ctr"/>
            <a:r>
              <a:rPr sz="900" b="0"/>
              <a:t>Shared config</a:t>
            </a:r>
          </a:p>
        </p:txBody>
      </p:sp>
      <p:pic>
        <p:nvPicPr>
          <p:cNvPr id="30" name="Picture 29" descr="SimpleStorageServic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3123" y="5623560"/>
            <a:ext cx="548640" cy="5486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31643" y="61904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Amazon S3</a:t>
            </a:r>
          </a:p>
          <a:p>
            <a:pPr algn="ctr"/>
            <a:r>
              <a:rPr sz="900" b="0"/>
              <a:t>Backups / Data</a:t>
            </a:r>
          </a:p>
        </p:txBody>
      </p:sp>
      <p:pic>
        <p:nvPicPr>
          <p:cNvPr id="32" name="Picture 31" descr="Backu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66944" y="562356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55464" y="61904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AWS Backup</a:t>
            </a:r>
          </a:p>
          <a:p>
            <a:pPr algn="ctr"/>
            <a:r>
              <a:rPr sz="900" b="0"/>
              <a:t>Snapshots</a:t>
            </a:r>
          </a:p>
        </p:txBody>
      </p:sp>
      <p:pic>
        <p:nvPicPr>
          <p:cNvPr id="34" name="Picture 33" descr="CloudWat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0764" y="5623560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79284" y="61904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CloudWatch</a:t>
            </a:r>
          </a:p>
          <a:p>
            <a:pPr algn="ctr"/>
            <a:r>
              <a:rPr sz="900" b="0"/>
              <a:t>Monitoring</a:t>
            </a:r>
          </a:p>
        </p:txBody>
      </p:sp>
      <p:pic>
        <p:nvPicPr>
          <p:cNvPr id="36" name="Picture 35" descr="CertificateManag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4585" y="5623560"/>
            <a:ext cx="548640" cy="5486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03105" y="61904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/>
              <a:t>ACM</a:t>
            </a:r>
          </a:p>
          <a:p>
            <a:pPr algn="ctr"/>
            <a:r>
              <a:rPr sz="900" b="0"/>
              <a:t>TLS certificates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3888" y="795528"/>
            <a:ext cx="99486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</a:rPr>
              <a:t>AWS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74950" y="1938528"/>
            <a:ext cx="3511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780F"/>
                </a:solidFill>
              </a:rPr>
              <a:t>VPC – Multi-AZ (AZ-a / AZ-b)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1545" y="2258568"/>
            <a:ext cx="210677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780F"/>
                </a:solidFill>
              </a:rPr>
              <a:t>Public Subnet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9900" y="2258568"/>
            <a:ext cx="269199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08C"/>
                </a:solidFill>
              </a:rPr>
              <a:t>Private Subnet –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50515" y="2258568"/>
            <a:ext cx="210677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08C"/>
                </a:solidFill>
              </a:rPr>
              <a:t>Private Subnet – Data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287475" y="1188720"/>
            <a:ext cx="1755648" cy="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45382" y="1188720"/>
            <a:ext cx="2457907" cy="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05548" y="1188720"/>
            <a:ext cx="2457908" cy="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714585" y="1874519"/>
            <a:ext cx="0" cy="868681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7666329" y="2926080"/>
            <a:ext cx="1697127" cy="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203289" y="2926080"/>
            <a:ext cx="760781" cy="0"/>
          </a:xfrm>
          <a:prstGeom prst="line">
            <a:avLst/>
          </a:prstGeom>
          <a:ln w="19050">
            <a:solidFill>
              <a:srgbClr val="0073B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15200" y="3611880"/>
            <a:ext cx="0" cy="502920"/>
          </a:xfrm>
          <a:prstGeom prst="line">
            <a:avLst/>
          </a:prstGeom>
          <a:ln w="19050">
            <a:solidFill>
              <a:srgbClr val="0073B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203289" y="4389120"/>
            <a:ext cx="760781" cy="0"/>
          </a:xfrm>
          <a:prstGeom prst="line">
            <a:avLst/>
          </a:prstGeom>
          <a:ln w="19050">
            <a:solidFill>
              <a:srgbClr val="0073B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037990" y="2926080"/>
            <a:ext cx="1463040" cy="0"/>
          </a:xfrm>
          <a:prstGeom prst="line">
            <a:avLst/>
          </a:prstGeom>
          <a:ln w="19050">
            <a:solidFill>
              <a:srgbClr val="0073B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037990" y="4389120"/>
            <a:ext cx="1463040" cy="0"/>
          </a:xfrm>
          <a:prstGeom prst="line">
            <a:avLst/>
          </a:prstGeom>
          <a:ln w="19050">
            <a:solidFill>
              <a:srgbClr val="0073B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